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"/>
  </p:notesMasterIdLst>
  <p:sldIdLst>
    <p:sldId id="256" r:id="rId2"/>
    <p:sldId id="257" r:id="rId3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C8"/>
    <a:srgbClr val="C81E1E"/>
    <a:srgbClr val="CA1F27"/>
    <a:srgbClr val="114984"/>
    <a:srgbClr val="000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F373EA-1A80-4195-87AF-E8B7F9AF8CB7}" v="1" dt="2025-01-03T04:02:09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5464" autoAdjust="0"/>
  </p:normalViewPr>
  <p:slideViewPr>
    <p:cSldViewPr snapToGrid="0">
      <p:cViewPr varScale="1">
        <p:scale>
          <a:sx n="105" d="100"/>
          <a:sy n="105" d="100"/>
        </p:scale>
        <p:origin x="16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E01F-4D53-4A69-9DB1-1C45EC5C4E5B}" type="datetimeFigureOut">
              <a:rPr lang="en-AU" smtClean="0"/>
              <a:t>4/06/2026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EAF24-195B-4336-9D04-D0FCBFDAC7C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72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510645" y="3225121"/>
            <a:ext cx="1869620" cy="8164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idx="1" hasCustomPrompt="1"/>
          </p:nvPr>
        </p:nvSpPr>
        <p:spPr>
          <a:xfrm>
            <a:off x="3394954" y="1578604"/>
            <a:ext cx="7729728" cy="1499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idx="12" hasCustomPrompt="1"/>
          </p:nvPr>
        </p:nvSpPr>
        <p:spPr>
          <a:xfrm>
            <a:off x="3406140" y="3434204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28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Subtitle here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idx="13" hasCustomPrompt="1"/>
          </p:nvPr>
        </p:nvSpPr>
        <p:spPr>
          <a:xfrm>
            <a:off x="3394954" y="4086188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14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Author name | 2020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61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7402" y="1227669"/>
            <a:ext cx="10718799" cy="48175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BC147243-CA72-4831-94C2-09C7E07BF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16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normalizeH="0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8E877B0D-5986-4CBD-9183-D775DDADFC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82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227669"/>
            <a:ext cx="5181599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227669"/>
            <a:ext cx="5427134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5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7"/>
            <a:ext cx="5181599" cy="42841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659466"/>
            <a:ext cx="5427134" cy="42841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999" y="1204149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D164F3-3DEC-810D-8327-45D32DAED734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72811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6"/>
            <a:ext cx="10718801" cy="2070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787401" y="4224865"/>
            <a:ext cx="10718801" cy="17187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77333" y="3730076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B06B02E-44B6-F3B2-5A59-E7DCBD9BF888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1290341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0EC6BE2-218F-5015-5A81-914E1BBE2CD4}"/>
              </a:ext>
            </a:extLst>
          </p:cNvPr>
          <p:cNvSpPr txBox="1">
            <a:spLocks/>
          </p:cNvSpPr>
          <p:nvPr userDrawn="1"/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sz="1099" b="1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B6DE3-00F3-4E42-BF0D-F6C80D7DB2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388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2432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33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5" r:id="rId3"/>
    <p:sldLayoutId id="2147483686" r:id="rId4"/>
    <p:sldLayoutId id="2147483687" r:id="rId5"/>
    <p:sldLayoutId id="2147483688" r:id="rId6"/>
    <p:sldLayoutId id="2147483693" r:id="rId7"/>
  </p:sldLayoutIdLst>
  <p:hf hdr="0" ftr="0" dt="0"/>
  <p:txStyles>
    <p:titleStyle>
      <a:lvl1pPr algn="ctr" defTabSz="914338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169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75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338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92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77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21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237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646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9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8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07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76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45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14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82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51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A91C3-0821-0BAF-0840-186EB9E9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4000" b="1">
                <a:solidFill>
                  <a:srgbClr val="B21F1F"/>
                </a:solidFill>
              </a:rPr>
              <a:t>Vietnam-MixedTrafficSim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6D9B5-69EF-B0FF-3B1E-41E68E50015D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sz="2000" b="0">
                <a:solidFill>
                  <a:srgbClr val="222222"/>
                </a:solidFill>
              </a:rPr>
              <a:t>APEX: a predictive risk-aware planner for Vietnamese mixed traffic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BE798-4B35-60B0-4C6A-DDDF783E2B2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sz="1400" b="0">
                <a:solidFill>
                  <a:srgbClr val="666666"/>
                </a:solidFill>
              </a:rPr>
              <a:t>ELEC5050 Robotics - Group 15   |   Do Minh Phung, Vu Thanh Quang, Nguyen Quoc Linh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5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8D22-E19D-EA37-2790-1C7D522A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Mixed Traffic in Vietnam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6BEB-ACCC-18E4-611A-ED2C1A48C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 b="0">
                <a:solidFill>
                  <a:srgbClr val="222222"/>
                </a:solidFill>
              </a:rPr>
              <a:t>AV motion planners assume Western traffic: marked lanes, rule-abiding drivers.</a:t>
            </a:r>
            <a:endParaRPr lang="en-US"/>
          </a:p>
          <a:p>
            <a:pPr/>
            <a:r>
              <a:rPr sz="2000" b="0">
                <a:solidFill>
                  <a:srgbClr val="222222"/>
                </a:solidFill>
              </a:rPr>
              <a:t>In Vietnam, &gt;90% of vehicles are motorcycles that: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lane-split and squeeze through sub-meter gaps,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cut in at short range and cross at junctions, ignoring signals.</a:t>
            </a:r>
          </a:p>
          <a:p>
            <a:pPr/>
            <a:r>
              <a:rPr sz="2000" b="1">
                <a:solidFill>
                  <a:srgbClr val="B21F1F"/>
                </a:solidFill>
              </a:rPr>
              <a:t>Standard planners react too late -&gt; unsafe.</a:t>
            </a:r>
          </a:p>
          <a:p>
            <a:pPr/>
            <a:r>
              <a:rPr sz="2000" b="1">
                <a:solidFill>
                  <a:srgbClr val="1E7A34"/>
                </a:solidFill>
              </a:rPr>
              <a:t>Goal: a planner that ANTICIPATES motorcycle conflicts on the real VinUni road.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3EC9A-3099-AB62-4DDE-4A15E3F4A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/>
            <a:fld id="{BC147243-CA72-4831-94C2-09C7E07BFD5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12774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Grounded in real Vietnamese data (PR2)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 b="0">
                <a:solidFill>
                  <a:srgbClr val="222222"/>
                </a:solidFill>
              </a:rPr>
              <a:t>5 real car trips around VinUni / Ocean Park (QL5 corridor, roundabout, lakeside, residential, faculty parking).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iPhone 12 Sensor Logger: video + GPS + IMU (100 Hz) + compass + barometer.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YOLOv8 detects car / motorcycle / pedestrian -&gt; actor counts (density), nearest range (TTC), class mix.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Synchronized 3-panel replay: GPS on the CommonRoad/Lanelet2 map | camera detections | drive stats.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Two demo modes from real density: low-traffic (&lt;=4 actors/frame) vs high-traffic (&gt;4).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Motorcycle calibration: 4 behaviours (lane-splitting, cut-in, close-following, ambiguous priority)</a:t>
            </a:r>
          </a:p>
          <a:p>
            <a:pPr lvl="1"/>
            <a:r>
              <a:rPr sz="1600" b="1">
                <a:solidFill>
                  <a:srgbClr val="1E7A34"/>
                </a:solidFill>
              </a:rPr>
              <a:t>-&gt; lateral velocity, acceleration, heading-change, gap -&gt; stochastic moto agents = APEX's occupancy-ellipse + dynamic safety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APEX - predictive risk-aware planner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1">
                <a:solidFill>
                  <a:srgbClr val="222222"/>
                </a:solidFill>
              </a:rPr>
              <a:t>Fuses car-following + reactive avoidance + sampling; fixes each one's flaw: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Predict every motorcycle over a 4 s horizon + reachability envelope -&gt; anticipates a cut-in before it starts.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Hard footprint-clearance margin to all motos over the whole horizon -&gt; collision-free by construction.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Junction-yield speed-cap for roadside / crossing motos -&gt; solves crossings (0/4).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Multi-horizon trajectories -&gt; brake hard when needed, full speed when clear (no over-braking).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Speed-maximizing objective under the safety constraint -&gt; most efficient among safe planners.</a:t>
            </a:r>
          </a:p>
          <a:p>
            <a:pPr/>
            <a:r>
              <a:rPr sz="1700" b="1">
                <a:solidFill>
                  <a:srgbClr val="1E7A34"/>
                </a:solidFill>
              </a:rPr>
              <a:t>Runs on the real VinUni CommonRoad map + recorded GPS.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52 scenarios x 6 planners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18011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Collisions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&lt;0.3 m fails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Min-clr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Mean R_T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IDM (Treiber 2000)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5.73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1.57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ORCA/VO (van den Berg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baseline (Frenet, naive)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28/52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conservative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1.86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moto-aware (prev.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14/52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APEX (predictive,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2.16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1.43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22222"/>
                </a:solidFill>
              </a:rPr>
              <a:t>Only conservative &amp; APEX are crash-free - and APEX is the efficient one: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0 collisions / 0 clearance-fails  -&gt;  -100% vs baseline (28) and vs our previous moto-aware (13)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23% faster than the only other crash-free planner (R_T 1.43 vs 1.86); beats published IDM &amp; ORCA</a:t>
            </a:r>
          </a:p>
          <a:p>
            <a:pPr/>
            <a:r>
              <a:rPr sz="1300" b="0">
                <a:solidFill>
                  <a:srgbClr val="666666"/>
                </a:solidFill>
              </a:rPr>
              <a:t>Metrics (PR2 Sec 6): collision = 0, min clearance &gt; 0.3 m, TTC exposure &lt; 2 s, AEB = 0, efficiency R_T &lt;= 1.25.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0">
                <a:solidFill>
                  <a:srgbClr val="222222"/>
                </a:solidFill>
              </a:rPr>
              <a:t>6 scenario videos (4 panels: baseline | ORCA/VO | moto-aware | APEX) - others collide, APEX stays safe: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cut-in, junction crossing, shoulder merge, multi-lane weave, two- and three-motorcycle scenes.</a:t>
            </a:r>
          </a:p>
          <a:p>
            <a:pPr/>
            <a:r>
              <a:rPr sz="1800" b="0">
                <a:solidFill>
                  <a:srgbClr val="222222"/>
                </a:solidFill>
              </a:rPr>
              <a:t>Aligns with the CommonRoad 2024 competition (winning Frenet paradigm; we add prediction it lacked).</a:t>
            </a:r>
          </a:p>
          <a:p>
            <a:pPr/>
            <a:r>
              <a:rPr sz="1600" b="0">
                <a:solidFill>
                  <a:srgbClr val="B21F1F"/>
                </a:solidFill>
              </a:rPr>
              <a:t>Honest limits (PR2 Sec 7): motorcycle-behaviour calibration in progress; YOLO range is approximate.</a:t>
            </a:r>
          </a:p>
          <a:p>
            <a:pPr/>
            <a:r>
              <a:rPr sz="1800" b="1">
                <a:solidFill>
                  <a:srgbClr val="1E7A34"/>
                </a:solidFill>
              </a:rPr>
              <a:t>Next: calibrate motorcycle behaviour from 200 h moto + 5 car-trip data; CARLA 3D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SHC template.potx" id="{FDDA3862-D075-4C93-A183-70F48EF83B48}" vid="{C5376C9E-2182-4ED6-BD5F-5B474979DE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VISHC template 1</Template>
  <TotalTime>0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Courier New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Ngoc Phu  (S.CECS - MSME)</dc:creator>
  <cp:lastModifiedBy>Vo Ngoc Phu  (S.CECS - MSME)</cp:lastModifiedBy>
  <cp:revision>1</cp:revision>
  <dcterms:created xsi:type="dcterms:W3CDTF">2026-06-04T13:11:38Z</dcterms:created>
  <dcterms:modified xsi:type="dcterms:W3CDTF">2026-06-04T13:12:02Z</dcterms:modified>
</cp:coreProperties>
</file>