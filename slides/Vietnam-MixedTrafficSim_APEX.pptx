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"/>
  </p:notesMasterIdLst>
  <p:sldIdLst>
    <p:sldId id="256" r:id="rId2"/>
    <p:sldId id="257" r:id="rId3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C8"/>
    <a:srgbClr val="C81E1E"/>
    <a:srgbClr val="CA1F27"/>
    <a:srgbClr val="114984"/>
    <a:srgbClr val="000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F373EA-1A80-4195-87AF-E8B7F9AF8CB7}" v="1" dt="2025-01-03T04:02:09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5464" autoAdjust="0"/>
  </p:normalViewPr>
  <p:slideViewPr>
    <p:cSldViewPr snapToGrid="0">
      <p:cViewPr varScale="1">
        <p:scale>
          <a:sx n="105" d="100"/>
          <a:sy n="105" d="100"/>
        </p:scale>
        <p:origin x="16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1E01F-4D53-4A69-9DB1-1C45EC5C4E5B}" type="datetimeFigureOut">
              <a:rPr lang="en-AU" smtClean="0"/>
              <a:t>4/06/2026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EAF24-195B-4336-9D04-D0FCBFDAC7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172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510645" y="3225121"/>
            <a:ext cx="1869620" cy="816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3394954" y="1578604"/>
            <a:ext cx="7729728" cy="14993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2pPr>
            <a:lvl3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3pPr>
            <a:lvl4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4pPr>
            <a:lvl5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2" hasCustomPrompt="1"/>
          </p:nvPr>
        </p:nvSpPr>
        <p:spPr>
          <a:xfrm>
            <a:off x="3406140" y="3434204"/>
            <a:ext cx="7729728" cy="498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8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2pPr>
            <a:lvl3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3pPr>
            <a:lvl4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4pPr>
            <a:lvl5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5pPr>
          </a:lstStyle>
          <a:p>
            <a:pPr marL="0" marR="0" lvl="0" indent="0" algn="l" defTabSz="91433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Subtitle here</a:t>
            </a:r>
          </a:p>
          <a:p>
            <a:pPr marL="0" marR="0" lvl="0" indent="0" algn="l" defTabSz="91433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idx="13" hasCustomPrompt="1"/>
          </p:nvPr>
        </p:nvSpPr>
        <p:spPr>
          <a:xfrm>
            <a:off x="3394954" y="4086188"/>
            <a:ext cx="7729728" cy="498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2pPr>
            <a:lvl3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3pPr>
            <a:lvl4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4pPr>
            <a:lvl5pPr>
              <a:defRPr kumimoji="0" lang="en-US" sz="48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5pPr>
          </a:lstStyle>
          <a:p>
            <a:pPr marL="0" marR="0" lvl="0" indent="0" algn="l" defTabSz="91433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Author name | 2020</a:t>
            </a:r>
          </a:p>
          <a:p>
            <a:pPr marL="0" marR="0" lvl="0" indent="0" algn="l" defTabSz="91433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6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2" y="287359"/>
            <a:ext cx="10718799" cy="76759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>
              <a:defRPr sz="4400" b="1" cap="none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402" y="1227669"/>
            <a:ext cx="10718799" cy="48175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4pPr>
            <a:lvl5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26240" y="6618515"/>
            <a:ext cx="365760" cy="239485"/>
          </a:xfrm>
          <a:prstGeom prst="ellipse">
            <a:avLst/>
          </a:prstGeom>
          <a:noFill/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099" b="1" spc="0" baseline="0">
                <a:solidFill>
                  <a:srgbClr val="FFFFFF"/>
                </a:solidFill>
              </a:defRPr>
            </a:lvl1pPr>
          </a:lstStyle>
          <a:p>
            <a:pPr lvl="0"/>
            <a:fld id="{BC147243-CA72-4831-94C2-09C7E07BFD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1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87402" y="287359"/>
            <a:ext cx="10718799" cy="76759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>
              <a:defRPr sz="4400" b="1" cap="none" normalizeH="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26240" y="6618515"/>
            <a:ext cx="365760" cy="239485"/>
          </a:xfrm>
          <a:prstGeom prst="ellipse">
            <a:avLst/>
          </a:prstGeom>
          <a:noFill/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099" b="1" spc="0" baseline="0">
                <a:solidFill>
                  <a:srgbClr val="FFFFFF"/>
                </a:solidFill>
              </a:defRPr>
            </a:lvl1pPr>
          </a:lstStyle>
          <a:p>
            <a:pPr lvl="0"/>
            <a:fld id="{8E877B0D-5986-4CBD-9183-D775DDAD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8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87401" y="1227669"/>
            <a:ext cx="5181599" cy="4817532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>
            <a:lvl1pPr>
              <a:defRPr sz="280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4pPr>
            <a:lvl5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6079068" y="1227669"/>
            <a:ext cx="5427134" cy="4817532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>
            <a:lvl1pPr>
              <a:defRPr sz="280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1pPr>
            <a:lvl2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2pPr>
            <a:lvl3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3pPr>
            <a:lvl4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4pPr>
            <a:lvl5pPr>
              <a:defRPr sz="2399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87402" y="287359"/>
            <a:ext cx="10718799" cy="76759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l">
              <a:defRPr sz="4400" b="1" cap="none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26240" y="6618515"/>
            <a:ext cx="365760" cy="239485"/>
          </a:xfrm>
          <a:prstGeom prst="ellipse">
            <a:avLst/>
          </a:prstGeom>
          <a:noFill/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099" b="1" spc="0" baseline="0">
                <a:solidFill>
                  <a:srgbClr val="FFFFFF"/>
                </a:solidFill>
              </a:defRPr>
            </a:lvl1pPr>
          </a:lstStyle>
          <a:p>
            <a:pPr lvl="0"/>
            <a:fld id="{03672911-F8FB-4C70-8399-27711227BB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6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87401" y="1659467"/>
            <a:ext cx="5181599" cy="428413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2pPr>
            <a:lvl3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3pPr>
            <a:lvl4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4pPr>
            <a:lvl5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6079068" y="1659466"/>
            <a:ext cx="5427134" cy="4284134"/>
          </a:xfrm>
          <a:prstGeom prst="rect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2pPr>
            <a:lvl3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3pPr>
            <a:lvl4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4pPr>
            <a:lvl5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>
          <a:xfrm>
            <a:off x="677333" y="1197801"/>
            <a:ext cx="2762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Sample Code: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8999" y="1204149"/>
            <a:ext cx="16882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baseline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  <a:endParaRPr lang="en-US" sz="2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26240" y="6618515"/>
            <a:ext cx="365760" cy="239485"/>
          </a:xfrm>
          <a:prstGeom prst="ellipse">
            <a:avLst/>
          </a:prstGeom>
          <a:noFill/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099" b="1" spc="0" baseline="0">
                <a:solidFill>
                  <a:srgbClr val="FFFFFF"/>
                </a:solidFill>
              </a:defRPr>
            </a:lvl1pPr>
          </a:lstStyle>
          <a:p>
            <a:pPr lvl="0"/>
            <a:fld id="{03672911-F8FB-4C70-8399-27711227BB7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D164F3-3DEC-810D-8327-45D32DAED734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787402" y="287359"/>
            <a:ext cx="10718799" cy="76759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l" defTabSz="9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200" baseline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cap="none" baseline="0"/>
              <a:t>Class practice</a:t>
            </a:r>
          </a:p>
        </p:txBody>
      </p:sp>
    </p:spTree>
    <p:extLst>
      <p:ext uri="{BB962C8B-B14F-4D97-AF65-F5344CB8AC3E}">
        <p14:creationId xmlns:p14="http://schemas.microsoft.com/office/powerpoint/2010/main" val="728110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87401" y="1659466"/>
            <a:ext cx="10718801" cy="20706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2pPr>
            <a:lvl3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3pPr>
            <a:lvl4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4pPr>
            <a:lvl5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2"/>
          </p:nvPr>
        </p:nvSpPr>
        <p:spPr>
          <a:xfrm>
            <a:off x="787401" y="4224865"/>
            <a:ext cx="10718801" cy="1718734"/>
          </a:xfrm>
          <a:prstGeom prst="rect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2800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2pPr>
            <a:lvl3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3pPr>
            <a:lvl4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4pPr>
            <a:lvl5pPr>
              <a:defRPr sz="2399">
                <a:latin typeface="Courier New" panose="02070309020205020404" pitchFamily="49" charset="0"/>
                <a:ea typeface="Cambria" panose="02040503050406030204" pitchFamily="18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>
          <a:xfrm>
            <a:off x="677333" y="1197801"/>
            <a:ext cx="2762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Sample Code: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77333" y="3730076"/>
            <a:ext cx="16882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baseline="0"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  <a:endParaRPr lang="en-US" sz="2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26240" y="6618515"/>
            <a:ext cx="365760" cy="239485"/>
          </a:xfrm>
          <a:prstGeom prst="ellipse">
            <a:avLst/>
          </a:prstGeom>
          <a:noFill/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099" b="1" spc="0" baseline="0">
                <a:solidFill>
                  <a:srgbClr val="FFFFFF"/>
                </a:solidFill>
              </a:defRPr>
            </a:lvl1pPr>
          </a:lstStyle>
          <a:p>
            <a:pPr lvl="0"/>
            <a:fld id="{66C662B3-3F21-4948-B280-DC9D8FFE01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06B02E-44B6-F3B2-5A59-E7DCBD9BF888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787402" y="287359"/>
            <a:ext cx="10718799" cy="76759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l" defTabSz="9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spc="200" baseline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cap="none" baseline="0"/>
              <a:t>Class practice</a:t>
            </a:r>
          </a:p>
        </p:txBody>
      </p:sp>
    </p:spTree>
    <p:extLst>
      <p:ext uri="{BB962C8B-B14F-4D97-AF65-F5344CB8AC3E}">
        <p14:creationId xmlns:p14="http://schemas.microsoft.com/office/powerpoint/2010/main" val="1290341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0EC6BE2-218F-5015-5A81-914E1BBE2CD4}"/>
              </a:ext>
            </a:extLst>
          </p:cNvPr>
          <p:cNvSpPr txBox="1">
            <a:spLocks/>
          </p:cNvSpPr>
          <p:nvPr userDrawn="1"/>
        </p:nvSpPr>
        <p:spPr>
          <a:xfrm>
            <a:off x="11826240" y="6618515"/>
            <a:ext cx="365760" cy="239485"/>
          </a:xfrm>
          <a:prstGeom prst="ellipse">
            <a:avLst/>
          </a:prstGeom>
          <a:noFill/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99" b="1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B6DE3-00F3-4E42-BF0D-F6C80D7DB2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388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26240" y="62432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099" spc="0" baseline="0">
                <a:solidFill>
                  <a:srgbClr val="FFFFFF"/>
                </a:solidFill>
              </a:defRPr>
            </a:lvl1pPr>
          </a:lstStyle>
          <a:p>
            <a:pPr lvl="0"/>
            <a:fld id="{66C662B3-3F21-4948-B280-DC9D8FFE01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3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5" r:id="rId3"/>
    <p:sldLayoutId id="2147483686" r:id="rId4"/>
    <p:sldLayoutId id="2147483687" r:id="rId5"/>
    <p:sldLayoutId id="2147483688" r:id="rId6"/>
    <p:sldLayoutId id="2147483693" r:id="rId7"/>
  </p:sldLayoutIdLst>
  <p:hf hdr="0" ftr="0" dt="0"/>
  <p:txStyles>
    <p:titleStyle>
      <a:lvl1pPr algn="ctr" defTabSz="914338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169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753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338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2922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773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212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237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646" indent="-228584" algn="l" defTabSz="914338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9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8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07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76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45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4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82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51" algn="l" defTabSz="91433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FA91C3-0821-0BAF-0840-186EB9E9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4000" b="1">
                <a:solidFill>
                  <a:srgbClr val="B21F1F"/>
                </a:solidFill>
              </a:rPr>
              <a:t>Vietnam-MixedTrafficSim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6D9B5-69EF-B0FF-3B1E-41E68E50015D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sz="2000" b="0">
                <a:solidFill>
                  <a:srgbClr val="222222"/>
                </a:solidFill>
              </a:rPr>
              <a:t>APEX: a predictive risk-aware planner for Vietnamese mixed traffic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BE798-4B35-60B0-4C6A-DDDF783E2B2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sz="1400" b="0">
                <a:solidFill>
                  <a:srgbClr val="666666"/>
                </a:solidFill>
              </a:rPr>
              <a:t>ELEC5050 Robotics - Group 15   |   Do Minh Phung, Vu Thanh Quang, Nguyen Quoc Linh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5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8D22-E19D-EA37-2790-1C7D522A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Mixed Traffic in Vietnam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6BEB-ACCC-18E4-611A-ED2C1A48C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 b="0">
                <a:solidFill>
                  <a:srgbClr val="222222"/>
                </a:solidFill>
              </a:rPr>
              <a:t>AV motion planners assume Western traffic: marked lanes, rule-abiding drivers.</a:t>
            </a:r>
            <a:endParaRPr lang="en-US"/>
          </a:p>
          <a:p>
            <a:pPr/>
            <a:r>
              <a:rPr sz="2000" b="0">
                <a:solidFill>
                  <a:srgbClr val="222222"/>
                </a:solidFill>
              </a:rPr>
              <a:t>In Vietnam, &gt;90% of vehicles are motorcycles that:</a:t>
            </a:r>
          </a:p>
          <a:p>
            <a:pPr lvl="1"/>
            <a:r>
              <a:rPr sz="1800" b="0">
                <a:solidFill>
                  <a:srgbClr val="666666"/>
                </a:solidFill>
              </a:rPr>
              <a:t>lane-split and squeeze through sub-meter gaps,</a:t>
            </a:r>
          </a:p>
          <a:p>
            <a:pPr lvl="1"/>
            <a:r>
              <a:rPr sz="1800" b="0">
                <a:solidFill>
                  <a:srgbClr val="666666"/>
                </a:solidFill>
              </a:rPr>
              <a:t>cut in at short range and cross at junctions, ignoring signals.</a:t>
            </a:r>
          </a:p>
          <a:p>
            <a:pPr/>
            <a:r>
              <a:rPr sz="2000" b="1">
                <a:solidFill>
                  <a:srgbClr val="B21F1F"/>
                </a:solidFill>
              </a:rPr>
              <a:t>Standard planners react too late -&gt; unsafe.</a:t>
            </a:r>
          </a:p>
          <a:p>
            <a:pPr/>
            <a:r>
              <a:rPr sz="2000" b="1">
                <a:solidFill>
                  <a:srgbClr val="1E7A34"/>
                </a:solidFill>
              </a:rPr>
              <a:t>Goal: a planner that ANTICIPATES motorcycle conflicts on the real VinUni road.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3EC9A-3099-AB62-4DDE-4A15E3F4A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/>
            <a:fld id="{BC147243-CA72-4831-94C2-09C7E07BFD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27740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ex_arch_inher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45955"/>
            <a:ext cx="11734800" cy="49660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Grounded in real Vietnamese data (PR2)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700" b="0">
                <a:solidFill>
                  <a:srgbClr val="222222"/>
                </a:solidFill>
              </a:rPr>
              <a:t>5 real car trips around VinUni / Ocean Park (QL5 corridor, roundabout, lakeside, residential, faculty parking).</a:t>
            </a:r>
          </a:p>
          <a:p>
            <a:pPr lvl="1"/>
            <a:r>
              <a:rPr sz="1600" b="0">
                <a:solidFill>
                  <a:srgbClr val="666666"/>
                </a:solidFill>
              </a:rPr>
              <a:t>iPhone 12 Sensor Logger: video + GPS + IMU (100 Hz) + compass + barometer.</a:t>
            </a:r>
          </a:p>
          <a:p>
            <a:pPr/>
            <a:r>
              <a:rPr sz="1700" b="0">
                <a:solidFill>
                  <a:srgbClr val="222222"/>
                </a:solidFill>
              </a:rPr>
              <a:t>YOLOv8 detects car / motorcycle / pedestrian -&gt; actor counts (density), nearest range (TTC), class mix.</a:t>
            </a:r>
          </a:p>
          <a:p>
            <a:pPr/>
            <a:r>
              <a:rPr sz="1700" b="0">
                <a:solidFill>
                  <a:srgbClr val="222222"/>
                </a:solidFill>
              </a:rPr>
              <a:t>Synchronized 3-panel replay: GPS on the CommonRoad/Lanelet2 map | camera detections | drive stats.</a:t>
            </a:r>
          </a:p>
          <a:p>
            <a:pPr/>
            <a:r>
              <a:rPr sz="1700" b="0">
                <a:solidFill>
                  <a:srgbClr val="222222"/>
                </a:solidFill>
              </a:rPr>
              <a:t>Two demo modes from real density: low-traffic (&lt;=4 actors/frame) vs high-traffic (&gt;4).</a:t>
            </a:r>
          </a:p>
          <a:p>
            <a:pPr/>
            <a:r>
              <a:rPr sz="1700" b="0">
                <a:solidFill>
                  <a:srgbClr val="222222"/>
                </a:solidFill>
              </a:rPr>
              <a:t>Motorcycle calibration: 4 behaviours (lane-splitting, cut-in, close-following, ambiguous priority)</a:t>
            </a:r>
          </a:p>
          <a:p>
            <a:pPr lvl="1"/>
            <a:r>
              <a:rPr sz="1600" b="1">
                <a:solidFill>
                  <a:srgbClr val="1E7A34"/>
                </a:solidFill>
              </a:rPr>
              <a:t>-&gt; lateral velocity, acceleration, heading-change, gap -&gt; stochastic moto agents = APEX's occupancy-ellipse + dynamic safety cost.</a:t>
            </a:r>
          </a:p>
        </p:txBody>
      </p:sp>
      <p:pic>
        <p:nvPicPr>
          <p:cNvPr id="4" name="Picture 3" descr="Quang Vu - Vinuni - Robotic - Vietnam Mixed Trafficsim - Real time sync driving trip [ADWuhLiD450 - 2056x514 - 0m56s]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5120640"/>
            <a:ext cx="7040880" cy="1760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ex_arch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21139"/>
            <a:ext cx="11734800" cy="4615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52 scenarios x 6 planners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18011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Planner</a:t>
                      </a:r>
                    </a:p>
                  </a:txBody>
                  <a:tcPr>
                    <a:solidFill>
                      <a:srgbClr val="B2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Collisions</a:t>
                      </a:r>
                    </a:p>
                  </a:txBody>
                  <a:tcPr>
                    <a:solidFill>
                      <a:srgbClr val="B2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&lt;0.3 m fails</a:t>
                      </a:r>
                    </a:p>
                  </a:txBody>
                  <a:tcPr>
                    <a:solidFill>
                      <a:srgbClr val="B2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Min-clr</a:t>
                      </a:r>
                    </a:p>
                  </a:txBody>
                  <a:tcPr>
                    <a:solidFill>
                      <a:srgbClr val="B21F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Mean R_T</a:t>
                      </a:r>
                    </a:p>
                  </a:txBody>
                  <a:tcPr>
                    <a:solidFill>
                      <a:srgbClr val="B21F1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IDM (Treiber 2000)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7/52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5.73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1.57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ORCA/VO (van den Berg 2011)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1.34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baseline (Frenet, naive)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28/52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30/52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1.24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1.27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0/52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1.86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moto-aware (prev. 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13/52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14/52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1.33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4"/>
                          </a:solidFill>
                        </a:rPr>
                        <a:t>APEX (predictive, 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4"/>
                          </a:solidFill>
                        </a:rPr>
                        <a:t>0/52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4"/>
                          </a:solidFill>
                        </a:rPr>
                        <a:t>0/52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4"/>
                          </a:solidFill>
                        </a:rPr>
                        <a:t>2.16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7A34"/>
                          </a:solidFill>
                        </a:rPr>
                        <a:t>1.43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1">
                <a:solidFill>
                  <a:srgbClr val="222222"/>
                </a:solidFill>
              </a:rPr>
              <a:t>Only conservative &amp; APEX are crash-free - and APEX is the efficient one:</a:t>
            </a:r>
          </a:p>
          <a:p>
            <a:pPr/>
            <a:r>
              <a:rPr sz="1500" b="0">
                <a:solidFill>
                  <a:srgbClr val="1E7A34"/>
                </a:solidFill>
              </a:rPr>
              <a:t>0 collisions / 0 clearance-fails  -&gt;  -100% vs baseline (28) and vs our previous moto-aware (13)</a:t>
            </a:r>
          </a:p>
          <a:p>
            <a:pPr/>
            <a:r>
              <a:rPr sz="1500" b="0">
                <a:solidFill>
                  <a:srgbClr val="1E7A34"/>
                </a:solidFill>
              </a:rPr>
              <a:t>23% faster than the only other crash-free planner (R_T 1.43 vs 1.86); beats published IDM &amp; ORCA</a:t>
            </a:r>
          </a:p>
          <a:p>
            <a:pPr/>
            <a:r>
              <a:rPr sz="1300" b="0">
                <a:solidFill>
                  <a:srgbClr val="666666"/>
                </a:solidFill>
              </a:rPr>
              <a:t>Metrics (PR2 Sec 6): collision = 0, min clearance &gt; 0.3 m, TTC exposure &lt; 2 s, AEB = 0, efficiency R_T &lt;= 1.25.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ex_arch_le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965" y="228600"/>
            <a:ext cx="947007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 b="0">
                <a:solidFill>
                  <a:srgbClr val="222222"/>
                </a:solidFill>
              </a:rPr>
              <a:t>6 scenario videos (4 panels: baseline | ORCA/VO | moto-aware | APEX) - others collide, APEX stays safe:</a:t>
            </a:r>
          </a:p>
          <a:p>
            <a:pPr lvl="1"/>
            <a:r>
              <a:rPr sz="1600" b="0">
                <a:solidFill>
                  <a:srgbClr val="666666"/>
                </a:solidFill>
              </a:rPr>
              <a:t>cut-in, junction crossing, shoulder merge, multi-lane weave, two- and three-motorcycle scenes.</a:t>
            </a:r>
          </a:p>
          <a:p>
            <a:pPr/>
            <a:r>
              <a:rPr sz="1800" b="0">
                <a:solidFill>
                  <a:srgbClr val="222222"/>
                </a:solidFill>
              </a:rPr>
              <a:t>Aligns with the CommonRoad 2024 competition (winning Frenet paradigm; we add prediction it lacked).</a:t>
            </a:r>
          </a:p>
          <a:p>
            <a:pPr/>
            <a:r>
              <a:rPr sz="1600" b="0">
                <a:solidFill>
                  <a:srgbClr val="B21F1F"/>
                </a:solidFill>
              </a:rPr>
              <a:t>Honest limits (PR2 Sec 7): motorcycle-behaviour calibration in progress; YOLO range is approximate.</a:t>
            </a:r>
          </a:p>
          <a:p>
            <a:pPr/>
            <a:r>
              <a:rPr sz="1800" b="1">
                <a:solidFill>
                  <a:srgbClr val="1E7A34"/>
                </a:solidFill>
              </a:rPr>
              <a:t>Next: calibrate motorcycle behaviour from 200 h moto + 5 car-trip data; CARLA 3D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SHC template.potx" id="{FDDA3862-D075-4C93-A183-70F48EF83B48}" vid="{C5376C9E-2182-4ED6-BD5F-5B474979DE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VISHC template 1</Template>
  <TotalTime>0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Courier New</vt:lpstr>
      <vt:lpstr>Parcel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Ngoc Phu  (S.CECS - MSME)</dc:creator>
  <cp:lastModifiedBy>Vo Ngoc Phu  (S.CECS - MSME)</cp:lastModifiedBy>
  <cp:revision>1</cp:revision>
  <dcterms:created xsi:type="dcterms:W3CDTF">2026-06-04T13:11:38Z</dcterms:created>
  <dcterms:modified xsi:type="dcterms:W3CDTF">2026-06-04T13:12:02Z</dcterms:modified>
</cp:coreProperties>
</file>